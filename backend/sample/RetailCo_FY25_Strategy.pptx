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63500" cy="6474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2563EB"/>
                </a:solidFill>
              </a:rPr>
              <a:t>SLIDE 1 OF 5  —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02336"/>
            <a:ext cx="11795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3A8A"/>
                </a:solidFill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11777472" cy="19050"/>
          </a:xfrm>
          <a:prstGeom prst="rect">
            <a:avLst/>
          </a:prstGeom>
          <a:solidFill>
            <a:srgbClr val="DC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63040"/>
            <a:ext cx="1163116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Online channel currently represents 18% of total revenue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Category growing at 14% CAGR — market tailwinds are strong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Proposed initiative delivers $8.2M in incremental revenue over 3 years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Requires board approval for a $1.8M phased investment over 18 months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IRR of 38% against our 12% hurdle rate — break-even projected at month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565392"/>
            <a:ext cx="1177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CA3AF"/>
                </a:solidFill>
              </a:rPr>
              <a:t>CONFIDENTIAL  |  RetailCo Digital Commerce Strategy  |  FY2025  |  Internal Working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63500" cy="6474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2563EB"/>
                </a:solidFill>
              </a:rPr>
              <a:t>SLIDE 2 OF 5  —  SITUATION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02336"/>
            <a:ext cx="11795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3A8A"/>
                </a:solidFill>
              </a:rPr>
              <a:t>Current State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11777472" cy="19050"/>
          </a:xfrm>
          <a:prstGeom prst="rect">
            <a:avLst/>
          </a:prstGeom>
          <a:solidFill>
            <a:srgbClr val="DC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63040"/>
            <a:ext cx="1163116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Customer acquisition cost has increased 34% year-on-year</a:t>
            </a:r>
          </a:p>
          <a:p>
            <a:pPr lvl="1">
              <a:spcBef>
                <a:spcPts val="400"/>
              </a:spcBef>
            </a:pPr>
            <a:r>
              <a:rPr sz="1200" b="0">
                <a:solidFill>
                  <a:srgbClr val="6B7280"/>
                </a:solidFill>
              </a:rPr>
              <a:t>FY23: $38.20  →  FY24 estimate: ~$51  |  Well above industry benchmark of +15%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Average order value holding steady at $127 — a positive signal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Cart abandonment rate remains high at 68% — primary conversion failure point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Conversion rate declining — now at 1.9%, down from 2.1% in FY23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Online NPS has dropped from 32 to 28 — customer satisfaction eroding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565392"/>
            <a:ext cx="1177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CA3AF"/>
                </a:solidFill>
              </a:rPr>
              <a:t>CONFIDENTIAL  |  RetailCo Digital Commerce Strategy  |  FY2025  |  Internal Working 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63500" cy="6474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2563EB"/>
                </a:solidFill>
              </a:rPr>
              <a:t>SLIDE 3 OF 5  — 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02336"/>
            <a:ext cx="11795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3A8A"/>
                </a:solidFill>
              </a:rPr>
              <a:t>Market Opportunity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11777472" cy="19050"/>
          </a:xfrm>
          <a:prstGeom prst="rect">
            <a:avLst/>
          </a:prstGeom>
          <a:solidFill>
            <a:srgbClr val="DC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63040"/>
            <a:ext cx="1163116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Total addressable market of $2.4B in our product category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Our current market share: 4.2% — significant headroom to grow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Top 3 competitors hold 67% of market — concentrated but contestable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Every 1 percentage point of share gained ≈ $24M in additional annual revenue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Digital-first entrants growing 2× faster than traditional players in this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565392"/>
            <a:ext cx="1177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CA3AF"/>
                </a:solidFill>
              </a:rPr>
              <a:t>CONFIDENTIAL  |  RetailCo Digital Commerce Strategy  |  FY2025  |  Internal Working Draft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63500" cy="6474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2563EB"/>
                </a:solidFill>
              </a:rPr>
              <a:t>SLIDE 4 OF 5  —  FINANCIALS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02336"/>
            <a:ext cx="11795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3A8A"/>
                </a:solidFill>
              </a:rPr>
              <a:t>Financial Projections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11777472" cy="19050"/>
          </a:xfrm>
          <a:prstGeom prst="rect">
            <a:avLst/>
          </a:prstGeom>
          <a:solidFill>
            <a:srgbClr val="DC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63040"/>
            <a:ext cx="1163116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Total investment: $1.8M, phased across 18 months to manage cash exposure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Break-even at month 14 — within the board’s 18-month payback policy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3-year NPV of $4.3M at our standard 12% discount rate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IRR of 38% versus 12% hurdle rate — strong risk-adjusted return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Sensitivity: break-even no later than month 19 even in a downside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565392"/>
            <a:ext cx="1177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CA3AF"/>
                </a:solidFill>
              </a:rPr>
              <a:t>CONFIDENTIAL  |  RetailCo Digital Commerce Strategy  |  FY2025  |  Internal Working Draft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35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00"/>
            <a:ext cx="63500" cy="64744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91440"/>
            <a:ext cx="1179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1">
                <a:solidFill>
                  <a:srgbClr val="2563EB"/>
                </a:solidFill>
              </a:rPr>
              <a:t>SLIDE 5 OF 5  — 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402336"/>
            <a:ext cx="117957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E3A8A"/>
                </a:solidFill>
              </a:rPr>
              <a:t>Recommended Approach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11777472" cy="19050"/>
          </a:xfrm>
          <a:prstGeom prst="rect">
            <a:avLst/>
          </a:prstGeom>
          <a:solidFill>
            <a:srgbClr val="DCE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63040"/>
            <a:ext cx="11631168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Phase 1 — Discovery &amp; Platform Selection  (Weeks 1–6)  |  $220K</a:t>
            </a:r>
          </a:p>
          <a:p>
            <a:pPr lvl="1">
              <a:spcBef>
                <a:spcPts val="400"/>
              </a:spcBef>
            </a:pPr>
            <a:r>
              <a:rPr sz="1200" b="0">
                <a:solidFill>
                  <a:srgbClr val="6B7280"/>
                </a:solidFill>
              </a:rPr>
              <a:t>Stakeholder workshops, RFP process, vendor selection. Go/pause decision available after Phase 1.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Phase 2 — Build &amp; Integrate  (Weeks 7–18)  |  $1,320K</a:t>
            </a:r>
          </a:p>
          <a:p>
            <a:pPr lvl="1">
              <a:spcBef>
                <a:spcPts val="400"/>
              </a:spcBef>
            </a:pPr>
            <a:r>
              <a:rPr sz="1200" b="0">
                <a:solidFill>
                  <a:srgbClr val="6B7280"/>
                </a:solidFill>
              </a:rPr>
              <a:t>Platform implementation, ERP/OMS integration, content migration, IT infrastructure.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Phase 3 — Launch &amp; Optimise  (Weeks 19–26)  |  $560K</a:t>
            </a:r>
          </a:p>
          <a:p>
            <a:pPr lvl="1">
              <a:spcBef>
                <a:spcPts val="400"/>
              </a:spcBef>
            </a:pPr>
            <a:r>
              <a:rPr sz="1200" b="0">
                <a:solidFill>
                  <a:srgbClr val="6B7280"/>
                </a:solidFill>
              </a:rPr>
              <a:t>Change management, staff training, launch campaign, post-launch optimisation.</a:t>
            </a:r>
          </a:p>
          <a:p>
            <a:pPr>
              <a:spcBef>
                <a:spcPts val="900"/>
              </a:spcBef>
            </a:pPr>
            <a:r>
              <a:rPr sz="1450" b="1">
                <a:solidFill>
                  <a:srgbClr val="3D4266"/>
                </a:solidFill>
              </a:rPr>
              <a:t>Decision required: board approval by end of Q1 to hit pre-peak-season go-live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" y="6565392"/>
            <a:ext cx="11777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>
                <a:solidFill>
                  <a:srgbClr val="9CA3AF"/>
                </a:solidFill>
              </a:rPr>
              <a:t>CONFIDENTIAL  |  RetailCo Digital Commerce Strategy  |  FY2025  |  Internal Working Draft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