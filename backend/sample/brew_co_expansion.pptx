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All three stores are running at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CC"/>
                </a:solidFill>
              </a:rPr>
              <a:t>Utilization ≥ 90% across the portfolio — growth requires a new 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321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16713E"/>
                </a:solidFill>
              </a:rPr>
              <a:t>•  </a:t>
            </a:r>
            <a:r>
              <a:rPr sz="1400" b="1">
                <a:solidFill>
                  <a:srgbClr val="1A1A2E"/>
                </a:solidFill>
              </a:rPr>
              <a:t>Downtown:  </a:t>
            </a:r>
            <a:r>
              <a:rPr sz="1300" b="0">
                <a:solidFill>
                  <a:srgbClr val="333344"/>
                </a:solidFill>
              </a:rPr>
              <a:t>$620K revenue  |  64% gross margin  |  94% utilization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6713E"/>
                </a:solidFill>
              </a:rPr>
              <a:t>•  </a:t>
            </a:r>
            <a:r>
              <a:rPr sz="1400" b="1">
                <a:solidFill>
                  <a:srgbClr val="1A1A2E"/>
                </a:solidFill>
              </a:rPr>
              <a:t>Eastside:  </a:t>
            </a:r>
            <a:r>
              <a:rPr sz="1300" b="0">
                <a:solidFill>
                  <a:srgbClr val="333344"/>
                </a:solidFill>
              </a:rPr>
              <a:t>$540K revenue  |  61% gross margin  |  91% utilization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6713E"/>
                </a:solidFill>
              </a:rPr>
              <a:t>•  </a:t>
            </a:r>
            <a:r>
              <a:rPr sz="1400" b="1">
                <a:solidFill>
                  <a:srgbClr val="1A1A2E"/>
                </a:solidFill>
              </a:rPr>
              <a:t>Northgate:  </a:t>
            </a:r>
            <a:r>
              <a:rPr sz="1300" b="0">
                <a:solidFill>
                  <a:srgbClr val="333344"/>
                </a:solidFill>
              </a:rPr>
              <a:t>$480K revenue  |  59% gross margin  |  90% utilization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6713E"/>
                </a:solidFill>
              </a:rPr>
              <a:t>•  </a:t>
            </a:r>
            <a:r>
              <a:rPr sz="1400" b="1">
                <a:solidFill>
                  <a:srgbClr val="16713E"/>
                </a:solidFill>
              </a:rPr>
              <a:t>Portfolio total:  </a:t>
            </a:r>
            <a:r>
              <a:rPr sz="1300" b="1">
                <a:solidFill>
                  <a:srgbClr val="16713E"/>
                </a:solidFill>
              </a:rPr>
              <a:t>$1.64M combined revenue  |  62% avg gross margin  |  92% avg utilization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Speaker notes: Our three locations generated $1.64M in revenue last year at an average 92% utilization — they're effectively full. To keep growing we need a fourth site.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Midtown site projects $175K EBITDA in Year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CC"/>
                </a:solidFill>
              </a:rPr>
              <a:t>Key assumptions: 480 cups/day average, $6.20 ticket, 58% gross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321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16713E"/>
                </a:solidFill>
              </a:rPr>
              <a:t>•  </a:t>
            </a:r>
            <a:r>
              <a:rPr sz="1300" b="1">
                <a:solidFill>
                  <a:srgbClr val="1A1A2E"/>
                </a:solidFill>
              </a:rPr>
              <a:t>Projected revenue: </a:t>
            </a:r>
            <a:r>
              <a:rPr sz="1300" b="0">
                <a:solidFill>
                  <a:srgbClr val="1A1A2E"/>
                </a:solidFill>
              </a:rPr>
              <a:t>$1.09M  </a:t>
            </a:r>
            <a:r>
              <a:rPr sz="1100">
                <a:solidFill>
                  <a:srgbClr val="666677"/>
                </a:solidFill>
              </a:rPr>
              <a:t>— 480 cups/day × $6.20 × 365 days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6713E"/>
                </a:solidFill>
              </a:rPr>
              <a:t>•  </a:t>
            </a:r>
            <a:r>
              <a:rPr sz="1300" b="1">
                <a:solidFill>
                  <a:srgbClr val="1A1A2E"/>
                </a:solidFill>
              </a:rPr>
              <a:t>Cost of goods sold: </a:t>
            </a:r>
            <a:r>
              <a:rPr sz="1300" b="0">
                <a:solidFill>
                  <a:srgbClr val="1A1A2E"/>
                </a:solidFill>
              </a:rPr>
              <a:t>($458K)  </a:t>
            </a:r>
            <a:r>
              <a:rPr sz="1100">
                <a:solidFill>
                  <a:srgbClr val="666677"/>
                </a:solidFill>
              </a:rPr>
              <a:t>— 42% of revenue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6713E"/>
                </a:solidFill>
              </a:rPr>
              <a:t>•  </a:t>
            </a:r>
            <a:r>
              <a:rPr sz="1300" b="1">
                <a:solidFill>
                  <a:srgbClr val="1A1A2E"/>
                </a:solidFill>
              </a:rPr>
              <a:t>Gross profit: </a:t>
            </a:r>
            <a:r>
              <a:rPr sz="1300" b="0">
                <a:solidFill>
                  <a:srgbClr val="1A1A2E"/>
                </a:solidFill>
              </a:rPr>
              <a:t>$632K  </a:t>
            </a:r>
            <a:r>
              <a:rPr sz="1100">
                <a:solidFill>
                  <a:srgbClr val="666677"/>
                </a:solidFill>
              </a:rPr>
              <a:t>— 58% gross margin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6713E"/>
                </a:solidFill>
              </a:rPr>
              <a:t>•  </a:t>
            </a:r>
            <a:r>
              <a:rPr sz="1300" b="1">
                <a:solidFill>
                  <a:srgbClr val="1A1A2E"/>
                </a:solidFill>
              </a:rPr>
              <a:t>Operating expenses: </a:t>
            </a:r>
            <a:r>
              <a:rPr sz="1300" b="0">
                <a:solidFill>
                  <a:srgbClr val="1A1A2E"/>
                </a:solidFill>
              </a:rPr>
              <a:t>($457K)  </a:t>
            </a:r>
            <a:r>
              <a:rPr sz="1100">
                <a:solidFill>
                  <a:srgbClr val="666677"/>
                </a:solidFill>
              </a:rPr>
              <a:t>— Rent $180K  +  Labor $210K  +  Other $67K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6713E"/>
                </a:solidFill>
              </a:rPr>
              <a:t>•  </a:t>
            </a:r>
            <a:r>
              <a:rPr sz="1300" b="1">
                <a:solidFill>
                  <a:srgbClr val="16713E"/>
                </a:solidFill>
              </a:rPr>
              <a:t>EBITDA: </a:t>
            </a:r>
            <a:r>
              <a:rPr sz="1300" b="1">
                <a:solidFill>
                  <a:srgbClr val="16713E"/>
                </a:solidFill>
              </a:rPr>
              <a:t>$175K  </a:t>
            </a:r>
            <a:r>
              <a:rPr sz="1100">
                <a:solidFill>
                  <a:srgbClr val="666677"/>
                </a:solidFill>
              </a:rPr>
              <a:t>— 16% margin — key return metric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6713E"/>
                </a:solidFill>
              </a:rPr>
              <a:t>•  </a:t>
            </a:r>
            <a:r>
              <a:rPr sz="1300" b="1">
                <a:solidFill>
                  <a:srgbClr val="1A1A2E"/>
                </a:solidFill>
              </a:rPr>
              <a:t>Required investment: </a:t>
            </a:r>
            <a:r>
              <a:rPr sz="1300" b="0">
                <a:solidFill>
                  <a:srgbClr val="1A1A2E"/>
                </a:solidFill>
              </a:rPr>
              <a:t>$240K  </a:t>
            </a:r>
            <a:r>
              <a:rPr sz="1100">
                <a:solidFill>
                  <a:srgbClr val="666677"/>
                </a:solidFill>
              </a:rPr>
              <a:t>— Fit-out, equipment, and working capital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6713E"/>
                </a:solidFill>
              </a:rPr>
              <a:t>•  </a:t>
            </a:r>
            <a:r>
              <a:rPr sz="1300" b="1">
                <a:solidFill>
                  <a:srgbClr val="1A1A2E"/>
                </a:solidFill>
              </a:rPr>
              <a:t>Payback period: </a:t>
            </a:r>
            <a:r>
              <a:rPr sz="1300" b="0">
                <a:solidFill>
                  <a:srgbClr val="1A1A2E"/>
                </a:solidFill>
              </a:rPr>
              <a:t>~17 months  </a:t>
            </a:r>
            <a:r>
              <a:rPr sz="1100">
                <a:solidFill>
                  <a:srgbClr val="666677"/>
                </a:solidFill>
              </a:rPr>
              <a:t>— At base-case cash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Recommend opening Midtown in Q3 — payback in 17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CC"/>
                </a:solidFill>
              </a:rPr>
              <a:t>Base-case IRR of 31%; downside scenario still positive at $72K EBITDA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13E"/>
                </a:solidFill>
              </a:rP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01952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Proceed with the Midtown lease. Sign by end of month to secure the Q3 opening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13E"/>
                </a:solidFill>
              </a:rPr>
              <a:t>Financial rationale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44952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$175K base-case EBITDA on a $240K investment. Even in a downside scenario (−20% volume) the site generates $72K EBITDA and pays back within 26 months.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713E"/>
                </a:solidFill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87952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1. CFO approves capex by Friday.  2. Ops lead finalises fit-out scope (2 weeks).  3. Hire store manager by end of 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